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4648" y="6858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4F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CLASS STRUCTURE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2A2A24"/>
                </a:solidFill>
                <a:latin typeface="Malgun Gothic"/>
              </a:rPr>
              <a:t>Grassland 생태계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8A8A80"/>
                </a:solidFill>
                <a:latin typeface="Malgun Gothic"/>
              </a:rPr>
              <a:t>클래스 구조와 동물·식물별 행동 특성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44952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A8A80"/>
                </a:solidFill>
                <a:latin typeface="Malgun Gothic"/>
              </a:rPr>
              <a:t>computer-science-project-grassland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8A8A80"/>
                </a:solidFill>
                <a:latin typeface="Malgun Gothic"/>
              </a:rPr>
              <a:t>Entity → Animal / Plant 클래스 계층 기반 생태계 시뮬레이션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클래스 다이어그램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0817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Entity 부터 모든 동·식물 클래스까지의 상속 구조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967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96796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Animal — 동물 공통 부모 클래스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333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체력·허기·갈증·스태미나와 행동 상태 머신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180844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22199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Carnivore — 육식동물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585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예측 추격(lead pursuit)과 매복·사체 포식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606040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647188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647188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Herbivore — 초식동물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8376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스트레스 기반 도주 판단과 은신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31236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72384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072384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Omnivore — 잡식동물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108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사체·식물 중 먹이를 선택하는 잡식 전략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456432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4975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4975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Plant — 식물 공통 부모 클래스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53415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광합성 기반 체력 회복과 피식 구조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881628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92277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22776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육식동물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959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Lion · Hyena · Bald Eagle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306824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34797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34797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초식동물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38454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Elephant · Zebra · Gazelle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732020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773168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773168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잡식동물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80974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Warthog · Meerkat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5157216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198364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198364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식물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52349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Grass · Baobab Tree · Acacia Tree · Bush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582412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62356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6235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GUI — 화면 표시 시스템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66013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pygame 기반 카메라·렌더링·애니메이션·UI 패널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6007608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604875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7A3D"/>
                </a:solidFill>
                <a:latin typeface="Malgun Gothic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20" y="6048756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Physics &amp; Environment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608533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조향 기반 이동/충돌과 시간·날씨·온도 시스템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6432804"/>
            <a:ext cx="10820095" cy="9525"/>
          </a:xfrm>
          <a:prstGeom prst="rect">
            <a:avLst/>
          </a:prstGeom>
          <a:solidFill>
            <a:srgbClr val="DDD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클래스 다이어그램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Class Hierarchy — 화살표는 자식 → 부모 방향(상속)을 의미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B5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Lion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B5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Hyena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B56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Bald_Eagle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4F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Elephant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4F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Zebra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4F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Gazelle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8E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Warthog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8E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Meerkat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6F9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Grass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6F9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Baobab_Tree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6F9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Acacia_Tree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81360" y="4251960"/>
            <a:ext cx="932688" cy="502920"/>
          </a:xfrm>
          <a:prstGeom prst="roundRect">
            <a:avLst>
              <a:gd name="adj" fmla="val 18000"/>
            </a:avLst>
          </a:prstGeom>
          <a:solidFill>
            <a:srgbClr val="6F9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900" b="1">
                <a:solidFill>
                  <a:srgbClr val="FBF9F2"/>
                </a:solidFill>
                <a:latin typeface="Malgun Gothic"/>
              </a:rPr>
              <a:t>Bush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324612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C98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200" b="1">
                <a:solidFill>
                  <a:srgbClr val="FBF9F2"/>
                </a:solidFill>
                <a:latin typeface="Malgun Gothic"/>
              </a:rPr>
              <a:t>Carnivore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58184" y="324612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7E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200" b="1">
                <a:solidFill>
                  <a:srgbClr val="FBF9F2"/>
                </a:solidFill>
                <a:latin typeface="Malgun Gothic"/>
              </a:rPr>
              <a:t>Herbivore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8484" y="324612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AB8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200" b="1">
                <a:solidFill>
                  <a:srgbClr val="FBF9F2"/>
                </a:solidFill>
                <a:latin typeface="Malgun Gothic"/>
              </a:rPr>
              <a:t>Omnivore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5274" y="2331720"/>
            <a:ext cx="2103120" cy="457200"/>
          </a:xfrm>
          <a:prstGeom prst="roundRect">
            <a:avLst>
              <a:gd name="adj" fmla="val 18000"/>
            </a:avLst>
          </a:prstGeom>
          <a:solidFill>
            <a:srgbClr val="A96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400" b="1">
                <a:solidFill>
                  <a:srgbClr val="FBF9F2"/>
                </a:solidFill>
                <a:latin typeface="Malgun Gothic"/>
              </a:rPr>
              <a:t>Animal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5964" y="2331720"/>
            <a:ext cx="2103120" cy="457200"/>
          </a:xfrm>
          <a:prstGeom prst="roundRect">
            <a:avLst>
              <a:gd name="adj" fmla="val 18000"/>
            </a:avLst>
          </a:prstGeom>
          <a:solidFill>
            <a:srgbClr val="558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400" b="1">
                <a:solidFill>
                  <a:srgbClr val="FBF9F2"/>
                </a:solidFill>
                <a:latin typeface="Malgun Gothic"/>
              </a:rPr>
              <a:t>Plant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03950" y="1417320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4F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600" b="1">
                <a:solidFill>
                  <a:srgbClr val="FBF9F2"/>
                </a:solidFill>
                <a:latin typeface="Malgun Gothic"/>
              </a:rPr>
              <a:t>Entity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86384" y="3703320"/>
            <a:ext cx="96012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746504" y="3703320"/>
            <a:ext cx="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746504" y="3703320"/>
            <a:ext cx="96012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66744" y="3703320"/>
            <a:ext cx="96012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26864" y="3703320"/>
            <a:ext cx="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4626864" y="3703320"/>
            <a:ext cx="96012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547104" y="3703320"/>
            <a:ext cx="48006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7027164" y="3703320"/>
            <a:ext cx="480060" cy="5486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467344" y="2788920"/>
            <a:ext cx="1440180" cy="14630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427464" y="2788920"/>
            <a:ext cx="480060" cy="14630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9907524" y="2788920"/>
            <a:ext cx="480060" cy="14630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907524" y="2788920"/>
            <a:ext cx="1440180" cy="146304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46504" y="2788920"/>
            <a:ext cx="2640330" cy="45720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386834" y="2788920"/>
            <a:ext cx="240030" cy="45720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4386834" y="2788920"/>
            <a:ext cx="2640330" cy="45720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386834" y="1874520"/>
            <a:ext cx="2760116" cy="45720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7146950" y="1874520"/>
            <a:ext cx="2760574" cy="457200"/>
          </a:xfrm>
          <a:prstGeom prst="line">
            <a:avLst/>
          </a:prstGeom>
          <a:ln w="15875">
            <a:solidFill>
              <a:srgbClr val="4F55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85800" y="5074920"/>
            <a:ext cx="256032" cy="256032"/>
          </a:xfrm>
          <a:prstGeom prst="rect">
            <a:avLst/>
          </a:prstGeom>
          <a:solidFill>
            <a:srgbClr val="C98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" y="5029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A24"/>
                </a:solidFill>
                <a:latin typeface="Malgun Gothic"/>
              </a:rPr>
              <a:t>육식동물 (Carnivore)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074920"/>
            <a:ext cx="256032" cy="256032"/>
          </a:xfrm>
          <a:prstGeom prst="rect">
            <a:avLst/>
          </a:prstGeom>
          <a:solidFill>
            <a:srgbClr val="7E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12464" y="5029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A24"/>
                </a:solidFill>
                <a:latin typeface="Malgun Gothic"/>
              </a:rPr>
              <a:t>초식동물 (Herbivore)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074920"/>
            <a:ext cx="256032" cy="256032"/>
          </a:xfrm>
          <a:prstGeom prst="rect">
            <a:avLst/>
          </a:prstGeom>
          <a:solidFill>
            <a:srgbClr val="AB8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9944" y="5029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A24"/>
                </a:solidFill>
                <a:latin typeface="Malgun Gothic"/>
              </a:rPr>
              <a:t>잡식동물 (Omnivore)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5074920"/>
            <a:ext cx="256032" cy="256032"/>
          </a:xfrm>
          <a:prstGeom prst="rect">
            <a:avLst/>
          </a:prstGeom>
          <a:solidFill>
            <a:srgbClr val="6F9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7424" y="5029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A24"/>
                </a:solidFill>
                <a:latin typeface="Malgun Gothic"/>
              </a:rPr>
              <a:t>식물 (Plant)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4864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0"/>
                </a:solidFill>
                <a:latin typeface="Malgun Gothic"/>
              </a:rPr>
              <a:t>모든 클래스는 Entity(공통 속성: 위치·속도·반경·색상·생존 여부)를 최상위 부모로 한다. Animal과 Plant가 1차로 분기되며, Animal은 다시 Carnivore / Herbivore / Omnivore로 나뉜다.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Animal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동물 공통 부모 클래스 — Entity 상속, 모든 동물의 행동·생존 상태를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핵심 생존 속성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health / max_health — 체력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hunger, thirst, stamina, stress — 0~100 사이 상태 게이지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speed, power, detect_range — 이동/전투/탐지 능력치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age, diet_type — 나이, 식성 구분(자식 클래스에서 지정)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상태 머신 &amp; 행동 사이클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update() — 매 프레임 hunger/thirst/stamina/age 갱신, 행동 결정 위임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behave() — 자식 클래스가 오버라이드하는 종 특화 행동 로직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wander() — 헤딩 기반 상관 랜덤워크(부드러운 방향 전환)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sleep() / wake_up() — 휴식 상태 전환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전투 &amp; 상호작용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70832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attack() / tick_combat() — 공격 쿨다운 시스템 관리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interaction_target — 현재 상호작용 중인 대상 추적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couple() — 번식(짝짓기) 처리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die() — 사망 처리(alive=False, solid=False)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생존 욕구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70832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eat() — 식물/사체 섭취로 hunger 감소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seek_water_if_needed() — 갈증 임계치 초과 시 물 탐색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seek_plants_if_needed() — 허기 임계치 초과 시 먹이 탐색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recover_stamina(), lose_energy() — 스태미나 증감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Carnivore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육식동물 공통 클래스 — 사냥·매복·사체 포식 메커니즘 제공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66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acceleration — 사냥 시 추가되는 가속(돌진) 수치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stealth — 은신 능력치(매복 시 발각 확률에 영향)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hunt_stamina_cost — 사냥 중 초당 소모 스태미나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hunted_carcass / _finished_carcasses — 사냥한 사체 추적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food_range — 먹이를 인식하는 거리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hunt() — 예측 추격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prey.position + prey.velocity * 0.35 로 '예측 지점(lead)' 계산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speed + acceleration 속도로 예측 지점을 향해 이동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사거리 내 진입 시 attack() 실행, 성공 시 사체 점유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먹이가 죽으면 사체를 찾아 feed_hunted_carcass()로 섭취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34340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1596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매복 &amp; 은신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516636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ambush() — 은신 상태에서 먹이가 가까워지면 기습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hide() — stealth 값에 기반해 발각 확률 감소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detect() / find_prey() — 탐지 범위 내 사냥감 탐색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사체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70832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claim_hunted_carcass() — 사냥에 성공한 사체를 점유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feed_hunted_carcass() — 점유한 사체를 섭취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nearest_available_carcass() — 주변의 점유되지 않은 사체 탐색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eat() 오버라이드 — Plant가 아닌 Carcass를 섭취 대상으로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Herbivore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초식동물 공통 클래스 — 위협 인지와 도주/은신 전략을 담당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66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role = 'herbivore', diet_type = 'herbivore'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flee_speed = speed * 1.25 — 도주 시 이동 속도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panic_range / base_panic_range — 포식자 인지 범위(스트레스에 따라 변동)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is_chased, panic_boost_timer — 추격 상태 및 일시적 경계 강화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_escape_luck / _escape_luck_timer — 도주 성공 확률 보정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행동 로직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behave() — 포식자 감지 시 fight_or_flight() 호출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fight_or_flight() — 종마다 다른 방식으로 오버라이드(맞서기/도주/특수기술)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flee_timer — 도주 지속 시간 관리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reproduce_cooldown — 번식 후 재번식까지 대기 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34340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1596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은신 &amp; 회복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516636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can_hide_in_bush() — 주변 Bush에 은신 가능 여부 판단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heal() — 시간 경과에 따른 체력 회복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 요약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70832"/>
            <a:ext cx="516636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스트레스(stress)가 높을수록 panic_range가 확장되어 더 멀리서도 포식자에 반응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각 종마다 fight_or_flight()를 다르게 구현해 종별 개성 부여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Omnivore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잡식동물 공통 클래스 — 사체와 식물 중 먹이를 선택하는 전략 제공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diet_type = 'omnivore'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diet_preference — 사체(0)~식물(1) 선호 비율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aggression — 위협 시 맞서 싸울 확률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forage_range / food_range — 먹이 탐색 거리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행동 로직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6636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behave() — 허기 상태에 따라 forage() 또는 flee_or_fight() 호출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decide_food() — diet_preference에 따라 사체/식물 중 목표 선택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forage() — 선택한 먹이를 향해 이동 후 섭취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먹이 섭취 &amp; 위협 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70832"/>
            <a:ext cx="516636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eat() 오버라이드 — 사체(Carcass)와 식물(Plant) 모두 섭취 가능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flee_or_fight() — aggression 확률에 따라 맞서거나 도주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575304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47872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 요약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86784"/>
            <a:ext cx="516636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Carnivore의 사냥 능력과 Herbivore의 채집 능력을 절충한 전략 보유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diet_preference, aggression 두 수치로 종별 식성·성향 차이를 표현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식물 공통 부모 클래스 — Entity 상속, 광합성 기반 회복과 피식 구조 제공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핵심 속성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health / max_health — 체력(피식되면 감소)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photosynthesis — 초당 체력 회복량(광합성 속도)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spread — 번식 누적값(임계치 도달 시 자식 식물 생성)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kind = 'plant', solid = False, layer = 1 (Entity로부터 상속)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핵심 메서드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66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update() — 매 프레임 photosynthesize() 호출, 날씨에 따라 성장 배율 적용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photosynthesize() — photosynthesis * dt 만큼 체력 회복(상한 max_health)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reproduce() — spread 값을 1 증가시켜 번식 신호 전달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consume(amount) — 동물에게 먹히는 양만큼 체력 감소, 0 이하면 die()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die() — alive=False, solid=False, action_text='dead'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70832"/>
            <a:ext cx="516636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비(rain) 등 날씨 효과가 growth_multiplier()를 통해 광합성 속도에 반영됨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체력이 곧 '먹이로서 남은 양'을 의미 — consume()으로 동물과 직접 상호작용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각 식물 자식 클래스는 leaf_amount, stored_water 등 고유 자원을 추가로 보유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GrasslandApp (gui.py) — 화면 표시 전용. world 를 읽기만 해서 그리는 카메라·렌더러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구조 &amp; 메인 루프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역할 분리 — gui.py 는 '그리기 + 카메라'만 담당, 시뮬레이션 로직은 world/physics가 처리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run() — pygame 메인 루프: dt 계산 → 이벤트 처리 → world.update(dt) → draw()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time_scale — SPEED_STEPS(0.25~4배)로 시뮬레이션 속도 조절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카메라(Vector2) — 가로 스크롤만 지원, clamp_camera()로 맵 밖으로 못 나가게 제한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입력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Space — 일시정지/재개, ←/→ — 배속 변경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 — 날씨 강제 전환(_cycle_weather), R — 재시작(_restart)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E — 시뮬레이션 종료, Y/N — 종료 화면에서 재시작 여부 선택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마우스 드래그 — 카메라 이동, 클릭 — handle_click()으로 동물/지형/자원 선택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렌더링 파이프라인 (draw)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70832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draw_background() → draw_sky() — 배경 타일링 + 해/달/구름(패럴랙스)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draw_world() — 바닥(호숫가·웅덩이·사체) → 풀 → 동물·나무를 발밑 y 기준 깊이 정렬해 그림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draw_weather_tint() / draw_rain() — 날씨별 화면 틴트와 빗줄기 효과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draw_ui() / draw_selection_panel() — 좌하단 정보 패널, 우상단 선택 정보 패널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애니메이션 &amp; UI 패널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70832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ANIMATIONS — 동물별 action_text → 상태(walk/hunt/flee 등) → 프레임 목록 매핑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_frame() — 프레임 타이머 진행, _ANIM_MIN_HOLD으로 짧은 동작이 한 프레임만 번쩍이는 것 방지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draw_ui() — Day/시각/온도/배속, 동물 개체수, draw_minimap()으로 전체 맵 미니맵 표시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draw_selection_panel() — 클릭한 개체의 좌표·체력·허기·행동 등 실시간 속성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Physics &amp;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PhysicsEngine (physics.py) — 조향 기반 이동/충돌  ·  Environment (environment.py) — 시간·날씨·온도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PhysicsEngine — 조향(steering)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update() — 모든 동물에 _integrate() 적용 후 _separate()로 잔여 겹침 해소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_desired() — desired_velocity에 분리(sep)·회피(avoid)·가장자리(edges) 힘을 합성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_steer() — 현재 속도를 목표 속도로 지수 보간(agility가 클수록 방향 전환이 빠름)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stamina/hunger가 hunger_speed_factor()를 통해 최고 속도(cap)에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충돌 &amp;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66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_sep() — 가까운 동물끼리 밀어내 떼가 자연스럽게 퍼지게 함(추격 대상은 제외)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_avoid() — 나무·바위 등 구조물을 AVOID_PAD만큼 미리 비껴가도록 회피력 추가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_edges() — 맵 가장자리 EDGE_PAD 안쪽에서 안으로 되돌리는 힘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_separate() — 위치 겹침을 절반씩 밀어내고, 서로 접근하는 속도 성분만 흡수해 진동 방지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apply_terrain_effects() — 지형(호수·동굴 등) 안에 있는 개체에 은신·갈증 해소 등 효과 부여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59352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Environment — 시간 &amp; 날씨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70832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day, time(0~24h), weather(sunny/cloudy/rain/drought), temperature 관리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update(dt) — GAME_HOURS_PER_SECOND 비율로 게임 시간 진행, 자정 경과 시 day 증가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change_time() — WEATHER_PERIOD_HOURS(6시간)마다 change_weather()/change_temp() 자동 호출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ended, end_reason — 시뮬레이션 종료 상태와 사유 저장(GUI의 종료 패널에 표시)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34340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1596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환경 영향 계수 &amp; 이벤트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54880"/>
            <a:ext cx="51663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growth_multiplier() — 식물 성장 배율(비 1.9배 ↔ 가뭄 0.35배)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heat_factor() — 26도 초과 시 더위 강도 → 동물의 갈증/기력 소모 증가에 반영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combat_factor() — 가뭄 시 전투력 0.85배로 감소(더위로 인한 둔화)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A2A24"/>
                </a:solidFill>
                <a:latin typeface="Malgun Gothic"/>
              </a:rPr>
              <a:t>•  DroughtEvent.dry_up_map() — 가뭄 동안 맵의 물웅덩이를 점진적으로 말림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사자  ·  부모 클래스: Carnivore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CARNIVORE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사자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thirst_limit = 70.0, food_range = 130.0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hunt_stamina_cost = 17.0 (Carnivore 기본보다 높음)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acceleration = 48.0 (Carnivore 기본 34.0보다 높음)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mane_size, mane_exist — 갈기 유무/크기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_avoid_timer, _last_elephant_pos — 코끼리 회피용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11200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08457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96056"/>
            <a:ext cx="72237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behave() 오버라이드 — 코끼리 회피 → 포효 → 매복/사냥 순으로 우선순위 판단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roar() — 320px 반경 내 Zebra 무리를 패닉 상태로 만듦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hide() 오버라이드 — stealth=0.42로 강화된 은신(매복 특화)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hunt(), ambush() — Carnivore의 예측 추격·매복을 그대로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51713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48970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01184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강한 매복 능력(stealth 0.42)으로 풀숲에서 기습에 특화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roar()로 얼룩말 무리를 광범위하게 위협하는 군집 견제 수단 보유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코끼리와의 정면 충돌을 회피하는 별도 로직(_avoid_timer)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hunt_stamina_cost·acceleration이 모두 기본값보다 높아 화력은 강하지만 스태미나 소모가 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Hyena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하이에나  ·  부모 클래스: Carnivore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CARNIVORE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y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하이에나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953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acceleration = 91.0 (speed + acceleration ≈ 167px/s, 매우 빠른 돌진)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steal_prey_chance — 사체 탈취 성공 확률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stolen_prey, steal_lunge_timer — 탈취 진행 상태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food_range = 110.0, thirst_limit = 66.0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02945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00202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13506"/>
            <a:ext cx="7223760" cy="1135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hunt() 오버라이드 — 다른 포식자가 먹고 있는 사체 발견 시 탈취 모드로 전환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  · 탈취 모드: carcass.being_eaten_by를 자신으로 변경(steal_prey_chance 확률)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  · 일반 모드: super().hunt()로 Carnivore의 예측 추격 사용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behave() 오버라이드 — 탈취 진행 중(steal_lunge_timer)이거나 허기 시 탈취 대상 우선 탐색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73176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70433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115814"/>
            <a:ext cx="722376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Carnivore 중 가장 높은 acceleration(91.0)으로 사체 탈취에 특화된 순발력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직접 사냥보다 다른 포식자의 사냥 결과를 가로채는 기생적 전략 보유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steal_lunge_timer로 짧은 돌진 모션을 표현해 탈취 행동에 자연스러운 지속시간 부여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Bald_Eagle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흰머리수리  ·  부모 클래스: Carnivore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CARNIVORE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ld_ea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흰머리수리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7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is_flying, fly_speed = 188 — 비행 상태 및 비행 속도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altitude — 고도 모델(이착륙 표현)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hunt_target — 현재 추적 중인 빈사 상태 동물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food_range = 200.0, thirst_limit = 88.0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84784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82041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31896"/>
            <a:ext cx="7223760" cy="149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fly() / land() — 비행·착륙 상태 전환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find_weak_target() — 빈사 상태(체력 낮음) 동물 탐색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hunt() 오버라이드 — 표적을 향해 fly_speed + acceleration으로 급강하(swoop) 추적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  · 사거리 진입 시 attack() → 사체 점유(claim_hunted_carcass)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  · 표적이 죽으면 사체를 찾아 eat_carcass()로 섭취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behave() 오버라이드 — hunt_target 또는 find_weak_target() 결과로 hunt() 직접 호출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91337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88594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297424"/>
            <a:ext cx="7223760" cy="7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유일하게 비행(altitude/is_flying) 시스템을 가진 종 — 평소엔 순찰 비행, 사냥 시 급강하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건강한 먹이가 아닌 '빈사 상태' 동물만 노리는 청소부형 사냥 전략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A2A24"/>
                </a:solidFill>
                <a:latin typeface="Malgun Gothic"/>
              </a:rPr>
              <a:t>•  food_range가 200으로 가장 넓어 상공에서 넓은 범위를 감시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Elephant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코끼리  ·  부모 클래스: Herbivore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HERBIVORE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코끼리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radius = 28.0 — 동물 중 가장 큰 충돌 반경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thirst_limit = 48.0, food_range = 120.0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_roam_chance = 0.75, _stomp_hold — 짓밟기 동작 유지 시간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GUARD_RANGE = 90.0 — 새끼 보호 범위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is_hidden — 항상 False 고정 프로퍼티(은신 불가)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health — 프로퍼티 오버라이드: 스태미나 30 미만이면 피해량 50% 감소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31012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28269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694176"/>
            <a:ext cx="72237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behave() 오버라이드 — 나무(Acacia/Baobab)의 잎(leaf)을 우선 섭취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fight_or_flight() 오버라이드 — 도주하지 않고 항상 stomp()로 맞섬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stomp() — 10% 확률로 40 데미지 + 넉백/바운스 효과를 가하는 강력한 반격기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71525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68782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099304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is_hidden이 항상 False로 고정되어 있어 덤불 등에 은신할 수 없는 유일한 초식동물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체력 프로퍼티에 데미지 감쇄 로직이 내장되어 있어 지친 상태에서도 일정 부분 보호됨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도주 옵션이 없는 fight_or_flight()로, 큰 덩치를 활용한 정면 대응형 초식동물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Zebra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얼룩말  ·  부모 클래스: Herbivore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HERBIVORE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zeb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얼룩말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thirst_limit = 64.0, food_range = 90.0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kick_power = 9.0 — 뒷발차기 위력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alert_radius = 220.0 — 위협 경보 전파 범위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71576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68833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099816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fight_or_flight() 오버라이드 — 포식자가 근접하면 kick(), 아니면 도주 + alert_herd()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kick() — 근접한 포식자에게 kick_power만큼 반격 데미지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alert_herd() — alert_radius 내 다른 Zebra들을 패닉 상태로 전파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31901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29158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703064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근접 시 반격(kick)과 원거리 도주를 모두 사용하는 균형형 대응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alert_herd()로 무리 전체에 위험을 전파하는 사회적 행동 보유 — Lion의 roar()와 대비되는 '경보' 역할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Gazelle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가젤  ·  부모 클래스: Herbivore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HERBIVORE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z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가젤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thirst_limit = 56.0, food_range = 80.0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endurance = 0.6 — 장거리 도주 지속력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zigzag_angle = 52.0 — 지그재그 회피 각도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agility = 9.0 — Entity 기본값보다 높은 민첩성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91388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88645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97936"/>
            <a:ext cx="7223760" cy="4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fight_or_flight() 오버라이드 — 맞서지 않고 항상 zigzag()로 회피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zigzag() — zigzag_angle만큼 방향을 주기적으로 꺾으며 도주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92277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89534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06824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Herbivore 중 유일하게 '맞서기' 옵션이 전혀 없는 순수 도주형 — fight_or_flight가 사실상 flight 전용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zigzag 이동으로 Carnivore.hunt()의 예측 추격(lead pursuit)을 무력화하는 회피 특화 설계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agility 수치가 가장 높아 방향 전환 속도 자체가 빠름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Warthog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혹멧돼지  ·  부모 클래스: Omnivore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OMNIVORE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rth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혹멧돼지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thirst_limit = 72.0, food_range = 85.0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diet_preference = 0.35 (사체 선호 쪽으로 치우침)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aggression = 0.35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tusk_power = 11.0 — 엄니 공격력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burrow_location — 굴(은신처) 위치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11200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08457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96056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dig() — 굴 파기(burrow_location 설정)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burrow() — 위협 시 굴로 도주해 은신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yacha() / _engage() — 굴 근처에서 엄니(tusk_power)로 반격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behave() 오버라이드 — 굴 인접 여부에 따라 도주(burrow) 또는 반격(yacha) 결정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71525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68782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099304"/>
            <a:ext cx="72237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굴(burrow)이라는 고유 은신 거점을 갖는 유일한 종 — 거점 기반 방어 전략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diet_preference가 0.35로 사체 쪽 선호가 강해 Omnivore 중 가장 육식에 가까움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거점 근처에서는 적극적으로 반격(yacha), 멀리 있을 때는 회피하는 위치 의존적 행동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Meerkat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미어캣  ·  부모 클래스: Omnivore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OMNIVORE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er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미어캣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SENTINEL_RANGE = 1.6, SENTINEL_DRAIN = 6.0 (클래스 상수)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thirst_limit = 80.0, food_range = 70.0(_base_food_range)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diet_preference = 0.25, aggression = 0.08 (가장 비공격적)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is_sentinel, sentinel_height — 보초 서기 상태/높이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apocalypse, _grow — 특수 엔딩 관련 상태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_roam_chance = 0.15, _hide_timer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11200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08457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96056"/>
            <a:ext cx="7223760" cy="120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stand() — 보초를 서며 detect_range를 SENTINEL_RANGE배로 확장(스태미나 소모: SENTINEL_DRAIN)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eat_grass() — 풀(Grass) 섭취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devour() — 특수 조건 충족 시 'apocalypse' 엔딩 트리거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_stay_in_cave() — 위협 시 동굴로 대피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behave() 오버라이드 — 보초/은신/채집을 상황에 따라 전환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wander() 오버라이드 — MEERKAT_HOME_RADIUS 내로 행동반경 제한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88035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85292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264404"/>
            <a:ext cx="7223760" cy="70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Omnivore 중 가장 비공격적(aggression=0.08)이며 동굴 의존도가 높음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보초(stand) 메커니즘으로 탐지 범위를 일시적으로 확장하는 사회적 경계 행동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wander()가 홈 반경으로 제한되어 있어 거점 중심의 좁은 행동권을 가짐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devour()라는 게임 전체에 영향을 주는 특수 엔딩 트리거를 보유한 유일한 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Grass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풀  ·  부모 클래스: Plant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PLANT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r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health = max_health = 55.0 (Plant 중 가장 작음)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photosynthesis = 1.4 (Plant 중 가장 빠른 회복 속도)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radius = 16 (가장 작음)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growth_rate = 2.2 — 비 올 때 추가 회복량(초당)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91388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88645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97936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update() 오버라이드 — 기본 광합성(super().update()) 후, 비 오는 날씨면 growth_rate만큼 추가 회복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spread_seeds() — Plant.reproduce()를 호출해 번식 누적값 증가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12089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09346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504944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체력과 반경이 가장 작아 빠르게 소모되지만 회복 속도가 가장 빨라 재생산 주기가 짧음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비(rain) 날씨에 추가 보너스를 받는 유일한 식물 — 날씨 시스템과 직접 연동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초식/잡식동물의 가장 기본적인 먹이원 역할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Baobab_Tree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바오밥나무  ·  부모 클래스: Plant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PLANT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obab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10" y="1783080"/>
            <a:ext cx="3814579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바오밥나무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health = max_health = 180.0 (Plant 중 가장 큰 체력)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photosynthesis = 0.6, radius = 42 (가장 큼)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stored_water = 80.0 — 가뭄 시 동물에게 제공할 수분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leaf_amount = 120.0 / max_leaf = 140.0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_leaf_timer — 잎 재생 주기 타이머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11200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08457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96056"/>
            <a:ext cx="7223760" cy="143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update() 오버라이드 — 8초마다 leaf_amount를 +9.0씩 자동 재생(자가 광합성)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eat_leaves(amount) — 동물이 잎을 뜯어먹는 양만큼 leaf_amount 감소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has_foliage() — leaf_amount &gt; 25.0 인지 여부 반환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provide_shade(animal) — 그늘을 제공해 동물의 stress를 5.0 감소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511149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08406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495544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Plant 중 가장 큰 체력과 반경을 가진 '거점형' 식물 — 쉽게 소멸하지 않음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stored_water로 가뭄 시 동물에게 수분을 제공하는 유일한 식물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provide_shade()로 동물의 스트레스를 줄여주는 환경 조절 기능 보유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Acacia_Tree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아카시아나무  ·  부모 클래스: Plant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PLANT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cacia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아카시아나무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871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health = 130.0 / max_health = 150.0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photosynthesis = 0.4, radius = 34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thorn_damage = 4.0 — 가시 반격 데미지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leaf_amount = 90.0 / max_leaf = 100.0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_leaf_timer — 잎 재생 주기 타이머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94690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91947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30956"/>
            <a:ext cx="7223760" cy="1366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update() 오버라이드 — 8초마다 produce_leaves() 호출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consume(amount) 오버라이드 — 체력 감소와 함께 leaf_amount도 eaten*0.6만큼 감소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on_eaten_by(animal) — leaf_amount &gt; 5.0이면 섭취한 동물에게 thorn_damage(4.0) 반격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produce_leaves() — leaf_amount 회복 + 체력 5.0 자가 회복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eat_leaves(), has_foliage(), provide_shade() — Baobab과 동일한 인터페이스 제공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88035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85292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264404"/>
            <a:ext cx="7223760" cy="70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Plant 중 유일하게 '먹히면 반격(on_eaten_by)'하는 방어 메커니즘(가시) 보유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consume()이 체력과 잎(leaf_amount)을 동시에 소모하도록 오버라이드되어 있어 자원 소모가 이중으로 발생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A2A24"/>
                </a:solidFill>
                <a:latin typeface="Malgun Gothic"/>
              </a:rPr>
              <a:t>•  잎이 충분할 때만(leaf_amount &gt; 5) 가시 데미지가 발동 — 자원 상태에 따라 방어력이 가변적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BF9F2"/>
          </a:solidFill>
          <a:ln w="19050">
            <a:solidFill>
              <a:srgbClr val="4F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A24"/>
                </a:solidFill>
                <a:latin typeface="Malgun Gothic"/>
              </a:rPr>
              <a:t>Bush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0"/>
                </a:solidFill>
                <a:latin typeface="Malgun Gothic"/>
              </a:rPr>
              <a:t>덤불  ·  부모 클래스: Plant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1002975" cy="15240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A80"/>
                </a:solidFill>
                <a:latin typeface="Malgun Gothic"/>
              </a:rPr>
              <a:t>GRASSLAND ECOSYSTEM SIMULATION — 클래스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A8A80"/>
                </a:solidFill>
                <a:latin typeface="Malgun Gothic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9975" y="457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F9F2"/>
                </a:solidFill>
                <a:latin typeface="Malgun Gothic"/>
              </a:rPr>
              <a:t>PLANT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3383280" cy="4297680"/>
          </a:xfrm>
          <a:prstGeom prst="rect">
            <a:avLst/>
          </a:prstGeom>
          <a:solidFill>
            <a:srgbClr val="F1EEE2"/>
          </a:solidFill>
          <a:ln w="12700">
            <a:solidFill>
              <a:srgbClr val="DD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918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303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24"/>
                </a:solidFill>
                <a:latin typeface="Malgun Gothic"/>
              </a:rPr>
              <a:t>덤불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81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고유 속성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92808"/>
            <a:ext cx="72237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health = max_health = 80.0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photosynthesis = 0.8 (느린 편), radius = 30 (넓음)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current_foliage = max_foliage = 80.0 — 현재/최대 잎 양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stealth_factor = 0.65 — 은신 효과 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913888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88645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주요 메서드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97936"/>
            <a:ext cx="72237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hide_entity(entity) — 덤불에 들어온 동물을 is_hidden=True로 설정하고, stealth_factor * (현재잎/최대잎) * 10 만큼 stress 감소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consume(amount) 오버라이드 — Plant.consume()으로 체력 감소 후 current_foliage도 동일하게 감소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517136"/>
            <a:ext cx="64008" cy="292608"/>
          </a:xfrm>
          <a:prstGeom prst="rect">
            <a:avLst/>
          </a:prstGeom>
          <a:solidFill>
            <a:srgbClr val="6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48970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24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01184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Plant 중 유일하게 다른 동물을 은신시켜주는 '환경 시설' 역할(hide_entity)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잎이 많이 남아있을수록 은신 효과(stealth_factor 가중치)가 강해짐 — 자원 상태가 은신 품질에 직결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A2A24"/>
                </a:solidFill>
                <a:latin typeface="Malgun Gothic"/>
              </a:rPr>
              <a:t>•  Herbivore.can_hide_in_bush()와 직접 연동되는 도주 전략의 핵심 요소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